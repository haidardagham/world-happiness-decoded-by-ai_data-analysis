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303" r:id="rId5"/>
    <p:sldId id="306" r:id="rId6"/>
    <p:sldId id="307" r:id="rId7"/>
    <p:sldId id="308" r:id="rId8"/>
    <p:sldId id="284" r:id="rId9"/>
    <p:sldId id="301" r:id="rId10"/>
    <p:sldId id="316" r:id="rId11"/>
    <p:sldId id="292" r:id="rId12"/>
    <p:sldId id="293" r:id="rId13"/>
    <p:sldId id="294" r:id="rId14"/>
    <p:sldId id="314" r:id="rId15"/>
    <p:sldId id="315" r:id="rId16"/>
    <p:sldId id="312" r:id="rId17"/>
    <p:sldId id="295" r:id="rId18"/>
    <p:sldId id="297" r:id="rId19"/>
    <p:sldId id="317" r:id="rId20"/>
    <p:sldId id="302" r:id="rId21"/>
    <p:sldId id="28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428"/>
    <a:srgbClr val="095763"/>
    <a:srgbClr val="0D82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66" autoAdjust="0"/>
    <p:restoredTop sz="94652" autoAdjust="0"/>
  </p:normalViewPr>
  <p:slideViewPr>
    <p:cSldViewPr snapToGrid="0" showGuides="1">
      <p:cViewPr varScale="1">
        <p:scale>
          <a:sx n="50" d="100"/>
          <a:sy n="50" d="100"/>
        </p:scale>
        <p:origin x="66" y="174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049051124011239E-2"/>
          <c:y val="4.9215180062756901E-2"/>
          <c:w val="0.92295094887598872"/>
          <c:h val="0.90156963987448624"/>
        </c:manualLayout>
      </c:layout>
      <c:lineChart>
        <c:grouping val="standard"/>
        <c:varyColors val="0"/>
        <c:ser>
          <c:idx val="2"/>
          <c:order val="0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Sheet1!$A$2:$A$10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7</c:v>
                </c:pt>
                <c:pt idx="5">
                  <c:v>9</c:v>
                </c:pt>
                <c:pt idx="6">
                  <c:v>12</c:v>
                </c:pt>
                <c:pt idx="7">
                  <c:v>15</c:v>
                </c:pt>
                <c:pt idx="8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BDC-4B59-A752-5693A7EE74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9086552"/>
        <c:axId val="659085568"/>
      </c:lineChart>
      <c:catAx>
        <c:axId val="65908655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59085568"/>
        <c:crosses val="autoZero"/>
        <c:auto val="1"/>
        <c:lblAlgn val="ctr"/>
        <c:lblOffset val="100"/>
        <c:noMultiLvlLbl val="0"/>
      </c:catAx>
      <c:valAx>
        <c:axId val="659085568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6590865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65D3EB-CBDD-4100-83B7-3BFE0A8F41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2B4595-A79D-4567-9FE1-DCF31A42B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C0719-993D-42E1-80ED-8F01056F36C2}" type="datetimeFigureOut">
              <a:rPr lang="en-US" smtClean="0"/>
              <a:t>25/05/28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E452F-E862-4273-987C-980229E532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E394C-9AD7-48EA-AB0F-18032A3E09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421AD-3AC0-48CB-8727-BB447FD226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1598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3BC9C-6C58-464F-B94E-FD73C5FB016E}" type="datetimeFigureOut">
              <a:rPr lang="en-US" smtClean="0"/>
              <a:t>25/05/28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0DC36-8EFA-4378-9855-E019C55AC4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527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91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25/05/28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8006A-94B1-44F7-972D-56767EDE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7BFAB-D84B-45E1-A0BD-2516AC1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6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25/05/28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4C8D5-F898-4318-A76D-1FBD873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6EC76-E8E8-4FFA-B671-7FA2F3E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8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25/05/28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1CCEE-725F-4745-837B-87EFB70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1522A-E0E6-406B-BF30-A7C7A572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04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25/05/28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7D452-958D-4159-A9A4-16DD296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654B6-1460-48B9-AC7E-592F68B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0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25/05/28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45E89F-12CF-4561-A5F2-1E05783A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B4DFE4-927C-43B1-A061-5CB97FF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05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25/05/28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2C9377-F93E-4515-852A-2647077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ED076D-476B-42BA-8795-14FE6C1E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55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A599B4-6AB2-4190-82B5-7667EE1E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25/05/28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8FBFB3-AD86-4E39-B8AE-B4EC1452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4AF55-C114-4B60-9A20-56B00A11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20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25/05/28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0ED2B-71C4-421A-9DB0-676E00C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4572A-ADFC-4C53-BCA2-42BDF69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95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25/05/28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96EA5-2FA2-464D-982F-C53E6426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1B398-191B-4AB1-86ED-00D0046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60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25/05/28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40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25/05/28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80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A1498-92C7-4E4B-8045-C9195F453964}" type="datetimeFigureOut">
              <a:rPr lang="en-US" smtClean="0"/>
              <a:t>25/05/28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7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371600" y="695440"/>
            <a:ext cx="9144000" cy="5124480"/>
          </a:xfrm>
        </p:spPr>
        <p:txBody>
          <a:bodyPr lIns="0" tIns="0" rIns="0" bIns="0" anchor="t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World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Happiness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sz="4800" b="1" dirty="0">
                <a:solidFill>
                  <a:schemeClr val="bg1"/>
                </a:solidFill>
              </a:rPr>
              <a:t>Decoded by </a:t>
            </a:r>
            <a:r>
              <a:rPr lang="en-US" b="1" dirty="0">
                <a:solidFill>
                  <a:schemeClr val="bg1"/>
                </a:solidFill>
              </a:rPr>
              <a:t>A</a:t>
            </a:r>
            <a:r>
              <a:rPr lang="en-US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accent4"/>
                </a:solidFill>
              </a:rPr>
              <a:t>An </a:t>
            </a:r>
            <a:r>
              <a:rPr lang="en-US" sz="4000" b="1" dirty="0">
                <a:solidFill>
                  <a:schemeClr val="accent4"/>
                </a:solidFill>
              </a:rPr>
              <a:t>A</a:t>
            </a:r>
            <a:r>
              <a:rPr lang="en-US" sz="44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4000" dirty="0">
                <a:solidFill>
                  <a:schemeClr val="accent4"/>
                </a:solidFill>
              </a:rPr>
              <a:t>-Driven</a:t>
            </a:r>
            <a:br>
              <a:rPr lang="en-US" sz="4000" dirty="0">
                <a:solidFill>
                  <a:schemeClr val="accent4"/>
                </a:solidFill>
              </a:rPr>
            </a:br>
            <a:r>
              <a:rPr lang="en-US" sz="4000" dirty="0">
                <a:solidFill>
                  <a:schemeClr val="accent4"/>
                </a:solidFill>
              </a:rPr>
              <a:t>Data Analysis Project</a:t>
            </a:r>
            <a:br>
              <a:rPr lang="en-US" sz="4000" dirty="0">
                <a:solidFill>
                  <a:schemeClr val="accent4"/>
                </a:solidFill>
              </a:rPr>
            </a:br>
            <a:r>
              <a:rPr lang="en-US" sz="4000" dirty="0">
                <a:solidFill>
                  <a:schemeClr val="accent4"/>
                </a:solidFill>
              </a:rPr>
              <a:t>by Haidar Dagham</a:t>
            </a:r>
            <a:br>
              <a:rPr lang="en-US" sz="4000" dirty="0">
                <a:solidFill>
                  <a:schemeClr val="accent4"/>
                </a:solidFill>
              </a:rPr>
            </a:b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1C59176D-59A8-4C02-B448-EE01232FB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92319" y="-608242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50B1817-3C7F-41BC-8557-7A00C928E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25258" y="-1770743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 descr="Icon of chart. ">
            <a:extLst>
              <a:ext uri="{FF2B5EF4-FFF2-40B4-BE49-F238E27FC236}">
                <a16:creationId xmlns:a16="http://schemas.microsoft.com/office/drawing/2014/main" id="{B95DF07A-CE7E-4D89-9AA0-25F4FFF3B9C7}"/>
              </a:ext>
            </a:extLst>
          </p:cNvPr>
          <p:cNvGrpSpPr/>
          <p:nvPr/>
        </p:nvGrpSpPr>
        <p:grpSpPr>
          <a:xfrm>
            <a:off x="5851020" y="518218"/>
            <a:ext cx="489958" cy="492680"/>
            <a:chOff x="2025650" y="4786313"/>
            <a:chExt cx="285750" cy="287338"/>
          </a:xfrm>
          <a:solidFill>
            <a:schemeClr val="bg1"/>
          </a:solidFill>
        </p:grpSpPr>
        <p:sp>
          <p:nvSpPr>
            <p:cNvPr id="8" name="Freeform 565">
              <a:extLst>
                <a:ext uri="{FF2B5EF4-FFF2-40B4-BE49-F238E27FC236}">
                  <a16:creationId xmlns:a16="http://schemas.microsoft.com/office/drawing/2014/main" id="{548FC78B-EF83-4185-A63D-1A5A85640B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25650" y="4786313"/>
              <a:ext cx="285750" cy="287338"/>
            </a:xfrm>
            <a:custGeom>
              <a:avLst/>
              <a:gdLst>
                <a:gd name="T0" fmla="*/ 812 w 903"/>
                <a:gd name="T1" fmla="*/ 500 h 903"/>
                <a:gd name="T2" fmla="*/ 810 w 903"/>
                <a:gd name="T3" fmla="*/ 505 h 903"/>
                <a:gd name="T4" fmla="*/ 806 w 903"/>
                <a:gd name="T5" fmla="*/ 509 h 903"/>
                <a:gd name="T6" fmla="*/ 800 w 903"/>
                <a:gd name="T7" fmla="*/ 511 h 903"/>
                <a:gd name="T8" fmla="*/ 105 w 903"/>
                <a:gd name="T9" fmla="*/ 511 h 903"/>
                <a:gd name="T10" fmla="*/ 99 w 903"/>
                <a:gd name="T11" fmla="*/ 510 h 903"/>
                <a:gd name="T12" fmla="*/ 95 w 903"/>
                <a:gd name="T13" fmla="*/ 507 h 903"/>
                <a:gd name="T14" fmla="*/ 92 w 903"/>
                <a:gd name="T15" fmla="*/ 502 h 903"/>
                <a:gd name="T16" fmla="*/ 90 w 903"/>
                <a:gd name="T17" fmla="*/ 496 h 903"/>
                <a:gd name="T18" fmla="*/ 90 w 903"/>
                <a:gd name="T19" fmla="*/ 105 h 903"/>
                <a:gd name="T20" fmla="*/ 92 w 903"/>
                <a:gd name="T21" fmla="*/ 100 h 903"/>
                <a:gd name="T22" fmla="*/ 95 w 903"/>
                <a:gd name="T23" fmla="*/ 94 h 903"/>
                <a:gd name="T24" fmla="*/ 99 w 903"/>
                <a:gd name="T25" fmla="*/ 91 h 903"/>
                <a:gd name="T26" fmla="*/ 105 w 903"/>
                <a:gd name="T27" fmla="*/ 90 h 903"/>
                <a:gd name="T28" fmla="*/ 800 w 903"/>
                <a:gd name="T29" fmla="*/ 90 h 903"/>
                <a:gd name="T30" fmla="*/ 806 w 903"/>
                <a:gd name="T31" fmla="*/ 92 h 903"/>
                <a:gd name="T32" fmla="*/ 810 w 903"/>
                <a:gd name="T33" fmla="*/ 96 h 903"/>
                <a:gd name="T34" fmla="*/ 812 w 903"/>
                <a:gd name="T35" fmla="*/ 102 h 903"/>
                <a:gd name="T36" fmla="*/ 813 w 903"/>
                <a:gd name="T37" fmla="*/ 496 h 903"/>
                <a:gd name="T38" fmla="*/ 15 w 903"/>
                <a:gd name="T39" fmla="*/ 0 h 903"/>
                <a:gd name="T40" fmla="*/ 9 w 903"/>
                <a:gd name="T41" fmla="*/ 1 h 903"/>
                <a:gd name="T42" fmla="*/ 5 w 903"/>
                <a:gd name="T43" fmla="*/ 4 h 903"/>
                <a:gd name="T44" fmla="*/ 1 w 903"/>
                <a:gd name="T45" fmla="*/ 8 h 903"/>
                <a:gd name="T46" fmla="*/ 0 w 903"/>
                <a:gd name="T47" fmla="*/ 15 h 903"/>
                <a:gd name="T48" fmla="*/ 0 w 903"/>
                <a:gd name="T49" fmla="*/ 590 h 903"/>
                <a:gd name="T50" fmla="*/ 2 w 903"/>
                <a:gd name="T51" fmla="*/ 595 h 903"/>
                <a:gd name="T52" fmla="*/ 7 w 903"/>
                <a:gd name="T53" fmla="*/ 599 h 903"/>
                <a:gd name="T54" fmla="*/ 12 w 903"/>
                <a:gd name="T55" fmla="*/ 602 h 903"/>
                <a:gd name="T56" fmla="*/ 437 w 903"/>
                <a:gd name="T57" fmla="*/ 602 h 903"/>
                <a:gd name="T58" fmla="*/ 260 w 903"/>
                <a:gd name="T59" fmla="*/ 877 h 903"/>
                <a:gd name="T60" fmla="*/ 257 w 903"/>
                <a:gd name="T61" fmla="*/ 883 h 903"/>
                <a:gd name="T62" fmla="*/ 256 w 903"/>
                <a:gd name="T63" fmla="*/ 888 h 903"/>
                <a:gd name="T64" fmla="*/ 257 w 903"/>
                <a:gd name="T65" fmla="*/ 893 h 903"/>
                <a:gd name="T66" fmla="*/ 260 w 903"/>
                <a:gd name="T67" fmla="*/ 899 h 903"/>
                <a:gd name="T68" fmla="*/ 265 w 903"/>
                <a:gd name="T69" fmla="*/ 902 h 903"/>
                <a:gd name="T70" fmla="*/ 271 w 903"/>
                <a:gd name="T71" fmla="*/ 903 h 903"/>
                <a:gd name="T72" fmla="*/ 277 w 903"/>
                <a:gd name="T73" fmla="*/ 902 h 903"/>
                <a:gd name="T74" fmla="*/ 281 w 903"/>
                <a:gd name="T75" fmla="*/ 899 h 903"/>
                <a:gd name="T76" fmla="*/ 621 w 903"/>
                <a:gd name="T77" fmla="*/ 899 h 903"/>
                <a:gd name="T78" fmla="*/ 627 w 903"/>
                <a:gd name="T79" fmla="*/ 902 h 903"/>
                <a:gd name="T80" fmla="*/ 632 w 903"/>
                <a:gd name="T81" fmla="*/ 903 h 903"/>
                <a:gd name="T82" fmla="*/ 637 w 903"/>
                <a:gd name="T83" fmla="*/ 902 h 903"/>
                <a:gd name="T84" fmla="*/ 643 w 903"/>
                <a:gd name="T85" fmla="*/ 899 h 903"/>
                <a:gd name="T86" fmla="*/ 646 w 903"/>
                <a:gd name="T87" fmla="*/ 893 h 903"/>
                <a:gd name="T88" fmla="*/ 647 w 903"/>
                <a:gd name="T89" fmla="*/ 888 h 903"/>
                <a:gd name="T90" fmla="*/ 646 w 903"/>
                <a:gd name="T91" fmla="*/ 883 h 903"/>
                <a:gd name="T92" fmla="*/ 643 w 903"/>
                <a:gd name="T93" fmla="*/ 877 h 903"/>
                <a:gd name="T94" fmla="*/ 467 w 903"/>
                <a:gd name="T95" fmla="*/ 602 h 903"/>
                <a:gd name="T96" fmla="*/ 892 w 903"/>
                <a:gd name="T97" fmla="*/ 602 h 903"/>
                <a:gd name="T98" fmla="*/ 897 w 903"/>
                <a:gd name="T99" fmla="*/ 599 h 903"/>
                <a:gd name="T100" fmla="*/ 900 w 903"/>
                <a:gd name="T101" fmla="*/ 595 h 903"/>
                <a:gd name="T102" fmla="*/ 902 w 903"/>
                <a:gd name="T103" fmla="*/ 590 h 903"/>
                <a:gd name="T104" fmla="*/ 903 w 903"/>
                <a:gd name="T105" fmla="*/ 15 h 903"/>
                <a:gd name="T106" fmla="*/ 902 w 903"/>
                <a:gd name="T107" fmla="*/ 8 h 903"/>
                <a:gd name="T108" fmla="*/ 899 w 903"/>
                <a:gd name="T109" fmla="*/ 4 h 903"/>
                <a:gd name="T110" fmla="*/ 894 w 903"/>
                <a:gd name="T111" fmla="*/ 1 h 903"/>
                <a:gd name="T112" fmla="*/ 888 w 903"/>
                <a:gd name="T11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3" h="903">
                  <a:moveTo>
                    <a:pt x="813" y="496"/>
                  </a:moveTo>
                  <a:lnTo>
                    <a:pt x="812" y="500"/>
                  </a:lnTo>
                  <a:lnTo>
                    <a:pt x="811" y="502"/>
                  </a:lnTo>
                  <a:lnTo>
                    <a:pt x="810" y="505"/>
                  </a:lnTo>
                  <a:lnTo>
                    <a:pt x="808" y="507"/>
                  </a:lnTo>
                  <a:lnTo>
                    <a:pt x="806" y="509"/>
                  </a:lnTo>
                  <a:lnTo>
                    <a:pt x="804" y="510"/>
                  </a:lnTo>
                  <a:lnTo>
                    <a:pt x="800" y="511"/>
                  </a:lnTo>
                  <a:lnTo>
                    <a:pt x="797" y="511"/>
                  </a:lnTo>
                  <a:lnTo>
                    <a:pt x="105" y="511"/>
                  </a:lnTo>
                  <a:lnTo>
                    <a:pt x="102" y="511"/>
                  </a:lnTo>
                  <a:lnTo>
                    <a:pt x="99" y="510"/>
                  </a:lnTo>
                  <a:lnTo>
                    <a:pt x="97" y="509"/>
                  </a:lnTo>
                  <a:lnTo>
                    <a:pt x="95" y="507"/>
                  </a:lnTo>
                  <a:lnTo>
                    <a:pt x="93" y="505"/>
                  </a:lnTo>
                  <a:lnTo>
                    <a:pt x="92" y="502"/>
                  </a:lnTo>
                  <a:lnTo>
                    <a:pt x="90" y="500"/>
                  </a:lnTo>
                  <a:lnTo>
                    <a:pt x="90" y="496"/>
                  </a:lnTo>
                  <a:lnTo>
                    <a:pt x="90" y="316"/>
                  </a:lnTo>
                  <a:lnTo>
                    <a:pt x="90" y="105"/>
                  </a:lnTo>
                  <a:lnTo>
                    <a:pt x="90" y="102"/>
                  </a:lnTo>
                  <a:lnTo>
                    <a:pt x="92" y="100"/>
                  </a:lnTo>
                  <a:lnTo>
                    <a:pt x="93" y="96"/>
                  </a:lnTo>
                  <a:lnTo>
                    <a:pt x="95" y="94"/>
                  </a:lnTo>
                  <a:lnTo>
                    <a:pt x="97" y="92"/>
                  </a:lnTo>
                  <a:lnTo>
                    <a:pt x="99" y="91"/>
                  </a:lnTo>
                  <a:lnTo>
                    <a:pt x="102" y="90"/>
                  </a:lnTo>
                  <a:lnTo>
                    <a:pt x="105" y="90"/>
                  </a:lnTo>
                  <a:lnTo>
                    <a:pt x="798" y="90"/>
                  </a:lnTo>
                  <a:lnTo>
                    <a:pt x="800" y="90"/>
                  </a:lnTo>
                  <a:lnTo>
                    <a:pt x="804" y="91"/>
                  </a:lnTo>
                  <a:lnTo>
                    <a:pt x="806" y="92"/>
                  </a:lnTo>
                  <a:lnTo>
                    <a:pt x="808" y="94"/>
                  </a:lnTo>
                  <a:lnTo>
                    <a:pt x="810" y="96"/>
                  </a:lnTo>
                  <a:lnTo>
                    <a:pt x="811" y="100"/>
                  </a:lnTo>
                  <a:lnTo>
                    <a:pt x="812" y="102"/>
                  </a:lnTo>
                  <a:lnTo>
                    <a:pt x="813" y="105"/>
                  </a:lnTo>
                  <a:lnTo>
                    <a:pt x="813" y="496"/>
                  </a:lnTo>
                  <a:close/>
                  <a:moveTo>
                    <a:pt x="888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5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587"/>
                  </a:lnTo>
                  <a:lnTo>
                    <a:pt x="0" y="590"/>
                  </a:lnTo>
                  <a:lnTo>
                    <a:pt x="1" y="593"/>
                  </a:lnTo>
                  <a:lnTo>
                    <a:pt x="2" y="595"/>
                  </a:lnTo>
                  <a:lnTo>
                    <a:pt x="5" y="597"/>
                  </a:lnTo>
                  <a:lnTo>
                    <a:pt x="7" y="599"/>
                  </a:lnTo>
                  <a:lnTo>
                    <a:pt x="9" y="601"/>
                  </a:lnTo>
                  <a:lnTo>
                    <a:pt x="12" y="602"/>
                  </a:lnTo>
                  <a:lnTo>
                    <a:pt x="15" y="602"/>
                  </a:lnTo>
                  <a:lnTo>
                    <a:pt x="437" y="602"/>
                  </a:lnTo>
                  <a:lnTo>
                    <a:pt x="437" y="701"/>
                  </a:lnTo>
                  <a:lnTo>
                    <a:pt x="260" y="877"/>
                  </a:lnTo>
                  <a:lnTo>
                    <a:pt x="259" y="879"/>
                  </a:lnTo>
                  <a:lnTo>
                    <a:pt x="257" y="883"/>
                  </a:lnTo>
                  <a:lnTo>
                    <a:pt x="256" y="885"/>
                  </a:lnTo>
                  <a:lnTo>
                    <a:pt x="256" y="888"/>
                  </a:lnTo>
                  <a:lnTo>
                    <a:pt x="256" y="891"/>
                  </a:lnTo>
                  <a:lnTo>
                    <a:pt x="257" y="893"/>
                  </a:lnTo>
                  <a:lnTo>
                    <a:pt x="259" y="897"/>
                  </a:lnTo>
                  <a:lnTo>
                    <a:pt x="260" y="899"/>
                  </a:lnTo>
                  <a:lnTo>
                    <a:pt x="263" y="901"/>
                  </a:lnTo>
                  <a:lnTo>
                    <a:pt x="265" y="902"/>
                  </a:lnTo>
                  <a:lnTo>
                    <a:pt x="268" y="903"/>
                  </a:lnTo>
                  <a:lnTo>
                    <a:pt x="271" y="903"/>
                  </a:lnTo>
                  <a:lnTo>
                    <a:pt x="274" y="903"/>
                  </a:lnTo>
                  <a:lnTo>
                    <a:pt x="277" y="902"/>
                  </a:lnTo>
                  <a:lnTo>
                    <a:pt x="279" y="901"/>
                  </a:lnTo>
                  <a:lnTo>
                    <a:pt x="281" y="899"/>
                  </a:lnTo>
                  <a:lnTo>
                    <a:pt x="452" y="728"/>
                  </a:lnTo>
                  <a:lnTo>
                    <a:pt x="621" y="899"/>
                  </a:lnTo>
                  <a:lnTo>
                    <a:pt x="623" y="901"/>
                  </a:lnTo>
                  <a:lnTo>
                    <a:pt x="627" y="902"/>
                  </a:lnTo>
                  <a:lnTo>
                    <a:pt x="629" y="903"/>
                  </a:lnTo>
                  <a:lnTo>
                    <a:pt x="632" y="903"/>
                  </a:lnTo>
                  <a:lnTo>
                    <a:pt x="635" y="903"/>
                  </a:lnTo>
                  <a:lnTo>
                    <a:pt x="637" y="902"/>
                  </a:lnTo>
                  <a:lnTo>
                    <a:pt x="641" y="901"/>
                  </a:lnTo>
                  <a:lnTo>
                    <a:pt x="643" y="899"/>
                  </a:lnTo>
                  <a:lnTo>
                    <a:pt x="645" y="897"/>
                  </a:lnTo>
                  <a:lnTo>
                    <a:pt x="646" y="893"/>
                  </a:lnTo>
                  <a:lnTo>
                    <a:pt x="647" y="891"/>
                  </a:lnTo>
                  <a:lnTo>
                    <a:pt x="647" y="888"/>
                  </a:lnTo>
                  <a:lnTo>
                    <a:pt x="647" y="885"/>
                  </a:lnTo>
                  <a:lnTo>
                    <a:pt x="646" y="883"/>
                  </a:lnTo>
                  <a:lnTo>
                    <a:pt x="645" y="879"/>
                  </a:lnTo>
                  <a:lnTo>
                    <a:pt x="643" y="877"/>
                  </a:lnTo>
                  <a:lnTo>
                    <a:pt x="467" y="701"/>
                  </a:lnTo>
                  <a:lnTo>
                    <a:pt x="467" y="602"/>
                  </a:lnTo>
                  <a:lnTo>
                    <a:pt x="888" y="602"/>
                  </a:lnTo>
                  <a:lnTo>
                    <a:pt x="892" y="602"/>
                  </a:lnTo>
                  <a:lnTo>
                    <a:pt x="894" y="601"/>
                  </a:lnTo>
                  <a:lnTo>
                    <a:pt x="897" y="599"/>
                  </a:lnTo>
                  <a:lnTo>
                    <a:pt x="899" y="597"/>
                  </a:lnTo>
                  <a:lnTo>
                    <a:pt x="900" y="595"/>
                  </a:lnTo>
                  <a:lnTo>
                    <a:pt x="902" y="593"/>
                  </a:lnTo>
                  <a:lnTo>
                    <a:pt x="902" y="590"/>
                  </a:lnTo>
                  <a:lnTo>
                    <a:pt x="903" y="587"/>
                  </a:lnTo>
                  <a:lnTo>
                    <a:pt x="903" y="15"/>
                  </a:lnTo>
                  <a:lnTo>
                    <a:pt x="902" y="12"/>
                  </a:lnTo>
                  <a:lnTo>
                    <a:pt x="902" y="8"/>
                  </a:lnTo>
                  <a:lnTo>
                    <a:pt x="900" y="6"/>
                  </a:lnTo>
                  <a:lnTo>
                    <a:pt x="899" y="4"/>
                  </a:lnTo>
                  <a:lnTo>
                    <a:pt x="897" y="2"/>
                  </a:lnTo>
                  <a:lnTo>
                    <a:pt x="894" y="1"/>
                  </a:lnTo>
                  <a:lnTo>
                    <a:pt x="892" y="0"/>
                  </a:lnTo>
                  <a:lnTo>
                    <a:pt x="88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566">
              <a:extLst>
                <a:ext uri="{FF2B5EF4-FFF2-40B4-BE49-F238E27FC236}">
                  <a16:creationId xmlns:a16="http://schemas.microsoft.com/office/drawing/2014/main" id="{B7B50F87-A3AA-4FB6-9692-24BF5512F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4225" y="4843463"/>
              <a:ext cx="200025" cy="73025"/>
            </a:xfrm>
            <a:custGeom>
              <a:avLst/>
              <a:gdLst>
                <a:gd name="T0" fmla="*/ 151 w 632"/>
                <a:gd name="T1" fmla="*/ 151 h 226"/>
                <a:gd name="T2" fmla="*/ 157 w 632"/>
                <a:gd name="T3" fmla="*/ 149 h 226"/>
                <a:gd name="T4" fmla="*/ 161 w 632"/>
                <a:gd name="T5" fmla="*/ 146 h 226"/>
                <a:gd name="T6" fmla="*/ 288 w 632"/>
                <a:gd name="T7" fmla="*/ 217 h 226"/>
                <a:gd name="T8" fmla="*/ 292 w 632"/>
                <a:gd name="T9" fmla="*/ 223 h 226"/>
                <a:gd name="T10" fmla="*/ 299 w 632"/>
                <a:gd name="T11" fmla="*/ 226 h 226"/>
                <a:gd name="T12" fmla="*/ 302 w 632"/>
                <a:gd name="T13" fmla="*/ 226 h 226"/>
                <a:gd name="T14" fmla="*/ 307 w 632"/>
                <a:gd name="T15" fmla="*/ 225 h 226"/>
                <a:gd name="T16" fmla="*/ 313 w 632"/>
                <a:gd name="T17" fmla="*/ 222 h 226"/>
                <a:gd name="T18" fmla="*/ 471 w 632"/>
                <a:gd name="T19" fmla="*/ 191 h 226"/>
                <a:gd name="T20" fmla="*/ 477 w 632"/>
                <a:gd name="T21" fmla="*/ 195 h 226"/>
                <a:gd name="T22" fmla="*/ 483 w 632"/>
                <a:gd name="T23" fmla="*/ 196 h 226"/>
                <a:gd name="T24" fmla="*/ 488 w 632"/>
                <a:gd name="T25" fmla="*/ 194 h 226"/>
                <a:gd name="T26" fmla="*/ 494 w 632"/>
                <a:gd name="T27" fmla="*/ 191 h 226"/>
                <a:gd name="T28" fmla="*/ 631 w 632"/>
                <a:gd name="T29" fmla="*/ 23 h 226"/>
                <a:gd name="T30" fmla="*/ 632 w 632"/>
                <a:gd name="T31" fmla="*/ 16 h 226"/>
                <a:gd name="T32" fmla="*/ 632 w 632"/>
                <a:gd name="T33" fmla="*/ 11 h 226"/>
                <a:gd name="T34" fmla="*/ 629 w 632"/>
                <a:gd name="T35" fmla="*/ 5 h 226"/>
                <a:gd name="T36" fmla="*/ 625 w 632"/>
                <a:gd name="T37" fmla="*/ 2 h 226"/>
                <a:gd name="T38" fmla="*/ 619 w 632"/>
                <a:gd name="T39" fmla="*/ 0 h 226"/>
                <a:gd name="T40" fmla="*/ 613 w 632"/>
                <a:gd name="T41" fmla="*/ 1 h 226"/>
                <a:gd name="T42" fmla="*/ 607 w 632"/>
                <a:gd name="T43" fmla="*/ 3 h 226"/>
                <a:gd name="T44" fmla="*/ 481 w 632"/>
                <a:gd name="T45" fmla="*/ 159 h 226"/>
                <a:gd name="T46" fmla="*/ 415 w 632"/>
                <a:gd name="T47" fmla="*/ 93 h 226"/>
                <a:gd name="T48" fmla="*/ 409 w 632"/>
                <a:gd name="T49" fmla="*/ 91 h 226"/>
                <a:gd name="T50" fmla="*/ 404 w 632"/>
                <a:gd name="T51" fmla="*/ 91 h 226"/>
                <a:gd name="T52" fmla="*/ 398 w 632"/>
                <a:gd name="T53" fmla="*/ 93 h 226"/>
                <a:gd name="T54" fmla="*/ 307 w 632"/>
                <a:gd name="T55" fmla="*/ 185 h 226"/>
                <a:gd name="T56" fmla="*/ 247 w 632"/>
                <a:gd name="T57" fmla="*/ 39 h 226"/>
                <a:gd name="T58" fmla="*/ 242 w 632"/>
                <a:gd name="T59" fmla="*/ 34 h 226"/>
                <a:gd name="T60" fmla="*/ 234 w 632"/>
                <a:gd name="T61" fmla="*/ 33 h 226"/>
                <a:gd name="T62" fmla="*/ 227 w 632"/>
                <a:gd name="T63" fmla="*/ 35 h 226"/>
                <a:gd name="T64" fmla="*/ 144 w 632"/>
                <a:gd name="T65" fmla="*/ 121 h 226"/>
                <a:gd name="T66" fmla="*/ 12 w 632"/>
                <a:gd name="T67" fmla="*/ 121 h 226"/>
                <a:gd name="T68" fmla="*/ 7 w 632"/>
                <a:gd name="T69" fmla="*/ 123 h 226"/>
                <a:gd name="T70" fmla="*/ 3 w 632"/>
                <a:gd name="T71" fmla="*/ 128 h 226"/>
                <a:gd name="T72" fmla="*/ 0 w 632"/>
                <a:gd name="T73" fmla="*/ 133 h 226"/>
                <a:gd name="T74" fmla="*/ 0 w 632"/>
                <a:gd name="T75" fmla="*/ 138 h 226"/>
                <a:gd name="T76" fmla="*/ 3 w 632"/>
                <a:gd name="T77" fmla="*/ 144 h 226"/>
                <a:gd name="T78" fmla="*/ 7 w 632"/>
                <a:gd name="T79" fmla="*/ 148 h 226"/>
                <a:gd name="T80" fmla="*/ 12 w 632"/>
                <a:gd name="T81" fmla="*/ 150 h 226"/>
                <a:gd name="T82" fmla="*/ 15 w 632"/>
                <a:gd name="T83" fmla="*/ 15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32" h="226">
                  <a:moveTo>
                    <a:pt x="15" y="151"/>
                  </a:moveTo>
                  <a:lnTo>
                    <a:pt x="151" y="151"/>
                  </a:lnTo>
                  <a:lnTo>
                    <a:pt x="154" y="150"/>
                  </a:lnTo>
                  <a:lnTo>
                    <a:pt x="157" y="149"/>
                  </a:lnTo>
                  <a:lnTo>
                    <a:pt x="159" y="148"/>
                  </a:lnTo>
                  <a:lnTo>
                    <a:pt x="161" y="146"/>
                  </a:lnTo>
                  <a:lnTo>
                    <a:pt x="230" y="75"/>
                  </a:lnTo>
                  <a:lnTo>
                    <a:pt x="288" y="217"/>
                  </a:lnTo>
                  <a:lnTo>
                    <a:pt x="289" y="220"/>
                  </a:lnTo>
                  <a:lnTo>
                    <a:pt x="292" y="223"/>
                  </a:lnTo>
                  <a:lnTo>
                    <a:pt x="294" y="224"/>
                  </a:lnTo>
                  <a:lnTo>
                    <a:pt x="299" y="226"/>
                  </a:lnTo>
                  <a:lnTo>
                    <a:pt x="300" y="226"/>
                  </a:lnTo>
                  <a:lnTo>
                    <a:pt x="302" y="226"/>
                  </a:lnTo>
                  <a:lnTo>
                    <a:pt x="304" y="226"/>
                  </a:lnTo>
                  <a:lnTo>
                    <a:pt x="307" y="225"/>
                  </a:lnTo>
                  <a:lnTo>
                    <a:pt x="309" y="223"/>
                  </a:lnTo>
                  <a:lnTo>
                    <a:pt x="313" y="222"/>
                  </a:lnTo>
                  <a:lnTo>
                    <a:pt x="407" y="127"/>
                  </a:lnTo>
                  <a:lnTo>
                    <a:pt x="471" y="191"/>
                  </a:lnTo>
                  <a:lnTo>
                    <a:pt x="473" y="193"/>
                  </a:lnTo>
                  <a:lnTo>
                    <a:pt x="477" y="195"/>
                  </a:lnTo>
                  <a:lnTo>
                    <a:pt x="480" y="196"/>
                  </a:lnTo>
                  <a:lnTo>
                    <a:pt x="483" y="196"/>
                  </a:lnTo>
                  <a:lnTo>
                    <a:pt x="486" y="195"/>
                  </a:lnTo>
                  <a:lnTo>
                    <a:pt x="488" y="194"/>
                  </a:lnTo>
                  <a:lnTo>
                    <a:pt x="492" y="193"/>
                  </a:lnTo>
                  <a:lnTo>
                    <a:pt x="494" y="191"/>
                  </a:lnTo>
                  <a:lnTo>
                    <a:pt x="629" y="25"/>
                  </a:lnTo>
                  <a:lnTo>
                    <a:pt x="631" y="23"/>
                  </a:lnTo>
                  <a:lnTo>
                    <a:pt x="632" y="19"/>
                  </a:lnTo>
                  <a:lnTo>
                    <a:pt x="632" y="16"/>
                  </a:lnTo>
                  <a:lnTo>
                    <a:pt x="632" y="14"/>
                  </a:lnTo>
                  <a:lnTo>
                    <a:pt x="632" y="11"/>
                  </a:lnTo>
                  <a:lnTo>
                    <a:pt x="631" y="9"/>
                  </a:lnTo>
                  <a:lnTo>
                    <a:pt x="629" y="5"/>
                  </a:lnTo>
                  <a:lnTo>
                    <a:pt x="627" y="3"/>
                  </a:lnTo>
                  <a:lnTo>
                    <a:pt x="625" y="2"/>
                  </a:lnTo>
                  <a:lnTo>
                    <a:pt x="621" y="1"/>
                  </a:lnTo>
                  <a:lnTo>
                    <a:pt x="619" y="0"/>
                  </a:lnTo>
                  <a:lnTo>
                    <a:pt x="616" y="0"/>
                  </a:lnTo>
                  <a:lnTo>
                    <a:pt x="613" y="1"/>
                  </a:lnTo>
                  <a:lnTo>
                    <a:pt x="611" y="2"/>
                  </a:lnTo>
                  <a:lnTo>
                    <a:pt x="607" y="3"/>
                  </a:lnTo>
                  <a:lnTo>
                    <a:pt x="605" y="5"/>
                  </a:lnTo>
                  <a:lnTo>
                    <a:pt x="481" y="159"/>
                  </a:lnTo>
                  <a:lnTo>
                    <a:pt x="418" y="95"/>
                  </a:lnTo>
                  <a:lnTo>
                    <a:pt x="415" y="93"/>
                  </a:lnTo>
                  <a:lnTo>
                    <a:pt x="412" y="91"/>
                  </a:lnTo>
                  <a:lnTo>
                    <a:pt x="409" y="91"/>
                  </a:lnTo>
                  <a:lnTo>
                    <a:pt x="407" y="90"/>
                  </a:lnTo>
                  <a:lnTo>
                    <a:pt x="404" y="91"/>
                  </a:lnTo>
                  <a:lnTo>
                    <a:pt x="400" y="91"/>
                  </a:lnTo>
                  <a:lnTo>
                    <a:pt x="398" y="93"/>
                  </a:lnTo>
                  <a:lnTo>
                    <a:pt x="396" y="95"/>
                  </a:lnTo>
                  <a:lnTo>
                    <a:pt x="307" y="185"/>
                  </a:lnTo>
                  <a:lnTo>
                    <a:pt x="249" y="42"/>
                  </a:lnTo>
                  <a:lnTo>
                    <a:pt x="247" y="39"/>
                  </a:lnTo>
                  <a:lnTo>
                    <a:pt x="244" y="36"/>
                  </a:lnTo>
                  <a:lnTo>
                    <a:pt x="242" y="34"/>
                  </a:lnTo>
                  <a:lnTo>
                    <a:pt x="237" y="33"/>
                  </a:lnTo>
                  <a:lnTo>
                    <a:pt x="234" y="33"/>
                  </a:lnTo>
                  <a:lnTo>
                    <a:pt x="230" y="33"/>
                  </a:lnTo>
                  <a:lnTo>
                    <a:pt x="227" y="35"/>
                  </a:lnTo>
                  <a:lnTo>
                    <a:pt x="224" y="38"/>
                  </a:lnTo>
                  <a:lnTo>
                    <a:pt x="144" y="121"/>
                  </a:lnTo>
                  <a:lnTo>
                    <a:pt x="15" y="121"/>
                  </a:lnTo>
                  <a:lnTo>
                    <a:pt x="12" y="121"/>
                  </a:lnTo>
                  <a:lnTo>
                    <a:pt x="9" y="122"/>
                  </a:lnTo>
                  <a:lnTo>
                    <a:pt x="7" y="123"/>
                  </a:lnTo>
                  <a:lnTo>
                    <a:pt x="5" y="126"/>
                  </a:lnTo>
                  <a:lnTo>
                    <a:pt x="3" y="128"/>
                  </a:lnTo>
                  <a:lnTo>
                    <a:pt x="2" y="130"/>
                  </a:lnTo>
                  <a:lnTo>
                    <a:pt x="0" y="133"/>
                  </a:lnTo>
                  <a:lnTo>
                    <a:pt x="0" y="136"/>
                  </a:lnTo>
                  <a:lnTo>
                    <a:pt x="0" y="138"/>
                  </a:lnTo>
                  <a:lnTo>
                    <a:pt x="2" y="142"/>
                  </a:lnTo>
                  <a:lnTo>
                    <a:pt x="3" y="144"/>
                  </a:lnTo>
                  <a:lnTo>
                    <a:pt x="5" y="146"/>
                  </a:lnTo>
                  <a:lnTo>
                    <a:pt x="7" y="148"/>
                  </a:lnTo>
                  <a:lnTo>
                    <a:pt x="9" y="150"/>
                  </a:lnTo>
                  <a:lnTo>
                    <a:pt x="12" y="150"/>
                  </a:lnTo>
                  <a:lnTo>
                    <a:pt x="15" y="151"/>
                  </a:lnTo>
                  <a:lnTo>
                    <a:pt x="15" y="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56C785E6-231A-06CC-8CDE-EADD2D623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365491"/>
            <a:ext cx="6400800" cy="1752600"/>
          </a:xfrm>
        </p:spPr>
        <p:txBody>
          <a:bodyPr>
            <a:normAutofit/>
          </a:bodyPr>
          <a:lstStyle/>
          <a:p>
            <a:r>
              <a:rPr sz="2800" b="1" dirty="0"/>
              <a:t>📧 </a:t>
            </a:r>
            <a:r>
              <a:rPr lang="en-US" sz="2800" b="1" dirty="0"/>
              <a:t>H</a:t>
            </a:r>
            <a:r>
              <a:rPr sz="2800" b="1" dirty="0"/>
              <a:t>aidar@</a:t>
            </a:r>
            <a:r>
              <a:rPr lang="en-US" sz="2800" b="1" dirty="0"/>
              <a:t>Dagham</a:t>
            </a:r>
            <a:r>
              <a:rPr sz="2800" b="1" dirty="0"/>
              <a:t>.com</a:t>
            </a:r>
            <a:endParaRPr lang="en-US" sz="28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760B0D0-A803-1E33-F2D1-DE5EC1F7CE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953"/>
          <a:stretch>
            <a:fillRect/>
          </a:stretch>
        </p:blipFill>
        <p:spPr>
          <a:xfrm>
            <a:off x="7866744" y="1145727"/>
            <a:ext cx="3200400" cy="4969064"/>
          </a:xfrm>
          <a:prstGeom prst="rect">
            <a:avLst/>
          </a:prstGeom>
          <a:effectLst>
            <a:glow rad="190500">
              <a:srgbClr val="095763"/>
            </a:glow>
            <a:outerShdw sx="1000" sy="1000" kx="-1200000" algn="bl" rotWithShape="0">
              <a:srgbClr val="095763"/>
            </a:outerShdw>
            <a:softEdge rad="444500"/>
          </a:effectLst>
        </p:spPr>
      </p:pic>
    </p:spTree>
    <p:extLst>
      <p:ext uri="{BB962C8B-B14F-4D97-AF65-F5344CB8AC3E}">
        <p14:creationId xmlns:p14="http://schemas.microsoft.com/office/powerpoint/2010/main" val="2245810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F44B2DA-379E-3058-2185-2986B2289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46420" y="1261872"/>
            <a:ext cx="5943600" cy="5070348"/>
          </a:xfrm>
        </p:spPr>
        <p:txBody>
          <a:bodyPr>
            <a:normAutofit fontScale="85000" lnSpcReduction="20000"/>
          </a:bodyPr>
          <a:lstStyle/>
          <a:p>
            <a:r>
              <a:rPr lang="en-US" sz="3600" b="1" dirty="0">
                <a:solidFill>
                  <a:schemeClr val="tx1"/>
                </a:solidFill>
              </a:rPr>
              <a:t>Executive Summary</a:t>
            </a:r>
          </a:p>
          <a:p>
            <a:r>
              <a:rPr lang="en-US" sz="3600" b="1" dirty="0">
                <a:solidFill>
                  <a:schemeClr val="tx1"/>
                </a:solidFill>
              </a:rPr>
              <a:t>Introduction</a:t>
            </a:r>
          </a:p>
          <a:p>
            <a:r>
              <a:rPr lang="en-US" sz="3600" b="1" dirty="0">
                <a:solidFill>
                  <a:schemeClr val="tx1"/>
                </a:solidFill>
              </a:rPr>
              <a:t>Methodology</a:t>
            </a:r>
          </a:p>
          <a:p>
            <a:r>
              <a:rPr lang="en-US" sz="3600" b="1" dirty="0">
                <a:solidFill>
                  <a:schemeClr val="tx1"/>
                </a:solidFill>
              </a:rPr>
              <a:t>Tools &amp; Technologies Used</a:t>
            </a:r>
          </a:p>
          <a:p>
            <a:r>
              <a:rPr lang="en-US" sz="3600" b="1" dirty="0">
                <a:solidFill>
                  <a:schemeClr val="tx1"/>
                </a:solidFill>
              </a:rPr>
              <a:t>Visualizations Created</a:t>
            </a:r>
          </a:p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	- Visualization</a:t>
            </a:r>
          </a:p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	- Charts</a:t>
            </a:r>
          </a:p>
          <a:p>
            <a:r>
              <a:rPr lang="en-US" sz="3600" b="1" dirty="0">
                <a:solidFill>
                  <a:schemeClr val="tx1"/>
                </a:solidFill>
              </a:rPr>
              <a:t>Dashboard</a:t>
            </a:r>
          </a:p>
          <a:p>
            <a:r>
              <a:rPr lang="en-US" sz="3600" b="1" dirty="0">
                <a:solidFill>
                  <a:schemeClr val="tx1"/>
                </a:solidFill>
              </a:rPr>
              <a:t>Dashboard Insights Summary</a:t>
            </a:r>
          </a:p>
          <a:p>
            <a:r>
              <a:rPr lang="en-US" sz="3600" b="1" dirty="0">
                <a:solidFill>
                  <a:schemeClr val="tx1"/>
                </a:solidFill>
              </a:rPr>
              <a:t>Conclusion</a:t>
            </a:r>
          </a:p>
          <a:p>
            <a:r>
              <a:rPr lang="en-US" sz="3600" b="1" dirty="0">
                <a:solidFill>
                  <a:schemeClr val="tx1"/>
                </a:solidFill>
              </a:rPr>
              <a:t>Real-World Applications</a:t>
            </a:r>
          </a:p>
          <a:p>
            <a:pPr marL="0" indent="0">
              <a:buNone/>
            </a:pPr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96ED70C-5B69-A06A-516D-9A3683E2A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745" y="1386012"/>
            <a:ext cx="3985335" cy="408597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97D9F544-C48F-6449-E025-9FECA788BBA8}"/>
              </a:ext>
            </a:extLst>
          </p:cNvPr>
          <p:cNvSpPr txBox="1">
            <a:spLocks/>
          </p:cNvSpPr>
          <p:nvPr/>
        </p:nvSpPr>
        <p:spPr>
          <a:xfrm>
            <a:off x="913795" y="0"/>
            <a:ext cx="10353762" cy="126187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u="sng" dirty="0">
                <a:solidFill>
                  <a:schemeClr val="tx1"/>
                </a:solidFill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524302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F44B2DA-379E-3058-2185-2986B2289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26380" y="1261872"/>
            <a:ext cx="6263640" cy="5070348"/>
          </a:xfrm>
        </p:spPr>
        <p:txBody>
          <a:bodyPr>
            <a:normAutofit fontScale="92500"/>
          </a:bodyPr>
          <a:lstStyle/>
          <a:p>
            <a:r>
              <a:rPr lang="en-US" sz="3600" b="1" dirty="0">
                <a:solidFill>
                  <a:schemeClr val="tx1"/>
                </a:solidFill>
              </a:rPr>
              <a:t>Analyzes 2016 World Happiness Report using Generative AI</a:t>
            </a:r>
          </a:p>
          <a:p>
            <a:r>
              <a:rPr lang="en-US" sz="3600" b="1" dirty="0">
                <a:solidFill>
                  <a:schemeClr val="tx1"/>
                </a:solidFill>
              </a:rPr>
              <a:t>Finds how economic and social factors influence happiness</a:t>
            </a:r>
          </a:p>
          <a:p>
            <a:r>
              <a:rPr lang="en-US" sz="3600" b="1" dirty="0">
                <a:solidFill>
                  <a:schemeClr val="tx1"/>
                </a:solidFill>
              </a:rPr>
              <a:t>Uses generative prompts for full code creation and visualization</a:t>
            </a:r>
          </a:p>
          <a:p>
            <a:r>
              <a:rPr lang="en-US" sz="3600" b="1" dirty="0">
                <a:solidFill>
                  <a:schemeClr val="tx1"/>
                </a:solidFill>
              </a:rPr>
              <a:t>Dashboard created for clear insight delivery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97D9F544-C48F-6449-E025-9FECA788BBA8}"/>
              </a:ext>
            </a:extLst>
          </p:cNvPr>
          <p:cNvSpPr txBox="1">
            <a:spLocks/>
          </p:cNvSpPr>
          <p:nvPr/>
        </p:nvSpPr>
        <p:spPr>
          <a:xfrm>
            <a:off x="913795" y="0"/>
            <a:ext cx="10353762" cy="126187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u="sng" dirty="0">
                <a:solidFill>
                  <a:schemeClr val="tx1"/>
                </a:solidFill>
              </a:rPr>
              <a:t>EXECUTIVE SUMMARY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2DD54F-21C2-08B8-FAA0-D3852E04C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420" y="1558540"/>
            <a:ext cx="3395864" cy="37409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765070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F44B2DA-379E-3058-2185-2986B2289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0" y="1261872"/>
            <a:ext cx="5920740" cy="507034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/>
                </a:solidFill>
              </a:rPr>
              <a:t>Dataset Source: Kaggle – World Happiness Report (2016 subset)</a:t>
            </a:r>
          </a:p>
          <a:p>
            <a:endParaRPr lang="en-US" sz="3200" b="1" dirty="0">
              <a:solidFill>
                <a:schemeClr val="tx1"/>
              </a:solidFill>
            </a:endParaRPr>
          </a:p>
          <a:p>
            <a:r>
              <a:rPr lang="en-US" sz="3200" b="1" dirty="0">
                <a:solidFill>
                  <a:schemeClr val="tx1"/>
                </a:solidFill>
              </a:rPr>
              <a:t>Tool: </a:t>
            </a:r>
            <a:r>
              <a:rPr lang="en-US" sz="3200" b="1" dirty="0" err="1">
                <a:solidFill>
                  <a:schemeClr val="tx1"/>
                </a:solidFill>
              </a:rPr>
              <a:t>Jupyter</a:t>
            </a:r>
            <a:r>
              <a:rPr lang="en-US" sz="3200" b="1" dirty="0">
                <a:solidFill>
                  <a:schemeClr val="tx1"/>
                </a:solidFill>
              </a:rPr>
              <a:t> Notebook with AI-driven code generation</a:t>
            </a:r>
          </a:p>
          <a:p>
            <a:endParaRPr lang="en-US" sz="3200" b="1" dirty="0">
              <a:solidFill>
                <a:schemeClr val="tx1"/>
              </a:solidFill>
            </a:endParaRPr>
          </a:p>
          <a:p>
            <a:r>
              <a:rPr lang="en-US" sz="3200" b="1" dirty="0">
                <a:solidFill>
                  <a:schemeClr val="tx1"/>
                </a:solidFill>
              </a:rPr>
              <a:t>Focus: GDP, Health, Trust, Freedom, and Region-wise effects on happiness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97D9F544-C48F-6449-E025-9FECA788BBA8}"/>
              </a:ext>
            </a:extLst>
          </p:cNvPr>
          <p:cNvSpPr txBox="1">
            <a:spLocks/>
          </p:cNvSpPr>
          <p:nvPr/>
        </p:nvSpPr>
        <p:spPr>
          <a:xfrm>
            <a:off x="913795" y="0"/>
            <a:ext cx="10353762" cy="126187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u="sng" dirty="0">
                <a:solidFill>
                  <a:schemeClr val="tx1"/>
                </a:solidFill>
              </a:rPr>
              <a:t>INTRODUCTION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13BF34-3C59-07B1-2FB4-D4A11C772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127" y="1901819"/>
            <a:ext cx="3054361" cy="30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532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F44B2DA-379E-3058-2185-2986B2289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49240" y="1261872"/>
            <a:ext cx="6240780" cy="5596128"/>
          </a:xfrm>
        </p:spPr>
        <p:txBody>
          <a:bodyPr>
            <a:normAutofit lnSpcReduction="10000"/>
          </a:bodyPr>
          <a:lstStyle/>
          <a:p>
            <a:r>
              <a:rPr lang="en-US" sz="3200" b="1" dirty="0">
                <a:solidFill>
                  <a:schemeClr val="tx1"/>
                </a:solidFill>
              </a:rPr>
              <a:t>AI-generated Python code (Pandas, Seaborn, </a:t>
            </a:r>
            <a:r>
              <a:rPr lang="en-US" sz="3200" b="1" dirty="0" err="1">
                <a:solidFill>
                  <a:schemeClr val="tx1"/>
                </a:solidFill>
              </a:rPr>
              <a:t>Plotly</a:t>
            </a:r>
            <a:r>
              <a:rPr lang="en-US" sz="3200" b="1" dirty="0">
                <a:solidFill>
                  <a:schemeClr val="tx1"/>
                </a:solidFill>
              </a:rPr>
              <a:t>)</a:t>
            </a:r>
          </a:p>
          <a:p>
            <a:endParaRPr lang="en-US" sz="3200" b="1" dirty="0">
              <a:solidFill>
                <a:schemeClr val="tx1"/>
              </a:solidFill>
            </a:endParaRPr>
          </a:p>
          <a:p>
            <a:r>
              <a:rPr lang="en-US" sz="3200" b="1" dirty="0">
                <a:solidFill>
                  <a:schemeClr val="tx1"/>
                </a:solidFill>
              </a:rPr>
              <a:t>Data cleaning: Handled nulls and reformatted headers</a:t>
            </a:r>
          </a:p>
          <a:p>
            <a:endParaRPr lang="en-US" sz="3200" b="1" dirty="0">
              <a:solidFill>
                <a:schemeClr val="tx1"/>
              </a:solidFill>
            </a:endParaRPr>
          </a:p>
          <a:p>
            <a:r>
              <a:rPr lang="en-US" sz="3200" b="1" dirty="0">
                <a:solidFill>
                  <a:schemeClr val="tx1"/>
                </a:solidFill>
              </a:rPr>
              <a:t>EDA: Visual &amp; statistical analysis via generative prompts</a:t>
            </a:r>
          </a:p>
          <a:p>
            <a:endParaRPr lang="en-US" sz="3200" b="1" dirty="0">
              <a:solidFill>
                <a:schemeClr val="tx1"/>
              </a:solidFill>
            </a:endParaRPr>
          </a:p>
          <a:p>
            <a:r>
              <a:rPr lang="en-US" sz="3200" b="1" dirty="0">
                <a:solidFill>
                  <a:schemeClr val="tx1"/>
                </a:solidFill>
              </a:rPr>
              <a:t>Dashboard created using </a:t>
            </a:r>
            <a:r>
              <a:rPr lang="en-US" sz="3200" b="1" dirty="0" err="1">
                <a:solidFill>
                  <a:schemeClr val="tx1"/>
                </a:solidFill>
              </a:rPr>
              <a:t>Plotly</a:t>
            </a:r>
            <a:r>
              <a:rPr lang="en-US" sz="3200" b="1" dirty="0">
                <a:solidFill>
                  <a:schemeClr val="tx1"/>
                </a:solidFill>
              </a:rPr>
              <a:t> for interactive insights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97D9F544-C48F-6449-E025-9FECA788BBA8}"/>
              </a:ext>
            </a:extLst>
          </p:cNvPr>
          <p:cNvSpPr txBox="1">
            <a:spLocks/>
          </p:cNvSpPr>
          <p:nvPr/>
        </p:nvSpPr>
        <p:spPr>
          <a:xfrm>
            <a:off x="913795" y="0"/>
            <a:ext cx="10353762" cy="126187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u="sng" dirty="0">
                <a:solidFill>
                  <a:schemeClr val="tx1"/>
                </a:solidFill>
              </a:rPr>
              <a:t>METHODOLOGY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88AD4D-4D9F-AA7B-6352-898276A4A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415" y="1831709"/>
            <a:ext cx="3194581" cy="31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958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699" y="0"/>
            <a:ext cx="9314063" cy="1325563"/>
          </a:xfrm>
        </p:spPr>
        <p:txBody>
          <a:bodyPr/>
          <a:lstStyle/>
          <a:p>
            <a:r>
              <a:rPr lang="en-US" b="1" u="sng" dirty="0"/>
              <a:t>Tools &amp; Technologies Used</a:t>
            </a:r>
            <a:endParaRPr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1100" y="1504028"/>
            <a:ext cx="6695557" cy="4618036"/>
          </a:xfrm>
        </p:spPr>
        <p:txBody>
          <a:bodyPr>
            <a:normAutofit fontScale="92500" lnSpcReduction="10000"/>
          </a:bodyPr>
          <a:lstStyle/>
          <a:p>
            <a:r>
              <a:rPr lang="en-US" sz="3600" b="1" dirty="0"/>
              <a:t>Python Libraries: `pandas`, `</a:t>
            </a:r>
            <a:r>
              <a:rPr lang="en-US" sz="3600" b="1" dirty="0" err="1"/>
              <a:t>numpy</a:t>
            </a:r>
            <a:r>
              <a:rPr lang="en-US" sz="3600" b="1" dirty="0"/>
              <a:t>`, `seaborn`,  `</a:t>
            </a:r>
            <a:r>
              <a:rPr lang="en-US" sz="3600" b="1" dirty="0" err="1"/>
              <a:t>plotly</a:t>
            </a:r>
            <a:r>
              <a:rPr lang="en-US" sz="3600" b="1"/>
              <a:t>`.</a:t>
            </a:r>
            <a:endParaRPr lang="en-US" sz="3600" b="1" dirty="0"/>
          </a:p>
          <a:p>
            <a:r>
              <a:rPr lang="en-US" sz="3600" b="1" dirty="0"/>
              <a:t>Notebook Environments: </a:t>
            </a:r>
            <a:r>
              <a:rPr lang="en-US" sz="3600" b="1" dirty="0" err="1"/>
              <a:t>Jupyter</a:t>
            </a:r>
            <a:r>
              <a:rPr lang="en-US" sz="3600" b="1" dirty="0"/>
              <a:t> Notebook, Google </a:t>
            </a:r>
            <a:r>
              <a:rPr lang="en-US" sz="3600" b="1" dirty="0" err="1"/>
              <a:t>Colab</a:t>
            </a:r>
            <a:r>
              <a:rPr lang="en-US" sz="3600" b="1" dirty="0"/>
              <a:t>.</a:t>
            </a:r>
          </a:p>
          <a:p>
            <a:r>
              <a:rPr lang="en-US" sz="3600" b="1" dirty="0"/>
              <a:t>Cloud Platforms: IBM Watsonx.ai</a:t>
            </a:r>
          </a:p>
          <a:p>
            <a:r>
              <a:rPr lang="en-US" sz="3600" b="1" dirty="0"/>
              <a:t>BI &amp; Visualization Tools: IBM Cognos Analytics, PowerPoint.</a:t>
            </a:r>
          </a:p>
          <a:p>
            <a:r>
              <a:rPr lang="en-US" sz="3600" b="1" dirty="0"/>
              <a:t>AI Tools: ChatGPT, DeepSeek.</a:t>
            </a:r>
          </a:p>
          <a:p>
            <a:r>
              <a:rPr lang="en-US" sz="3600" b="1" dirty="0"/>
              <a:t>Version Control: Git &amp; GitHub.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5C92AE6-D856-7435-3AB9-A600E6C878C4}"/>
              </a:ext>
            </a:extLst>
          </p:cNvPr>
          <p:cNvSpPr txBox="1">
            <a:spLocks/>
          </p:cNvSpPr>
          <p:nvPr/>
        </p:nvSpPr>
        <p:spPr>
          <a:xfrm>
            <a:off x="924443" y="1955672"/>
            <a:ext cx="3881480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sz="19900" dirty="0">
                <a:solidFill>
                  <a:srgbClr val="ED8428"/>
                </a:solidFill>
              </a:rPr>
              <a:t>🛠️</a:t>
            </a:r>
            <a:endParaRPr lang="en-US" dirty="0">
              <a:solidFill>
                <a:srgbClr val="ED8428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478" y="0"/>
            <a:ext cx="8656320" cy="1325563"/>
          </a:xfrm>
        </p:spPr>
        <p:txBody>
          <a:bodyPr/>
          <a:lstStyle/>
          <a:p>
            <a:r>
              <a:rPr lang="en-US" b="1" u="sng" dirty="0"/>
              <a:t>Visualizations Created</a:t>
            </a:r>
            <a:endParaRPr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1690688"/>
            <a:ext cx="6914907" cy="4802187"/>
          </a:xfrm>
        </p:spPr>
        <p:txBody>
          <a:bodyPr>
            <a:normAutofit fontScale="92500" lnSpcReduction="10000"/>
          </a:bodyPr>
          <a:lstStyle/>
          <a:p>
            <a:r>
              <a:rPr lang="en-US" sz="3600" b="1" dirty="0"/>
              <a:t>Correlation Heatmap – Happiness &amp; contributing factors</a:t>
            </a:r>
          </a:p>
          <a:p>
            <a:r>
              <a:rPr lang="en-US" sz="3600" b="1" dirty="0"/>
              <a:t>Scatter Plot – GDP vs Happiness across regions</a:t>
            </a:r>
          </a:p>
          <a:p>
            <a:r>
              <a:rPr lang="en-US" sz="3600" b="1" dirty="0"/>
              <a:t>Pie Chart – Happiness Score share by region</a:t>
            </a:r>
          </a:p>
          <a:p>
            <a:r>
              <a:rPr lang="en-US" sz="3600" b="1" dirty="0"/>
              <a:t>Choropleth Map – GDP with life expectancy as tooltip</a:t>
            </a:r>
          </a:p>
          <a:p>
            <a:r>
              <a:rPr lang="en-US" sz="3600" b="1" dirty="0"/>
              <a:t>Bar Chart - Top 10 countries: GDP vs Life Expectancy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5C92AE6-D856-7435-3AB9-A600E6C878C4}"/>
              </a:ext>
            </a:extLst>
          </p:cNvPr>
          <p:cNvSpPr txBox="1">
            <a:spLocks/>
          </p:cNvSpPr>
          <p:nvPr/>
        </p:nvSpPr>
        <p:spPr>
          <a:xfrm>
            <a:off x="924443" y="1955672"/>
            <a:ext cx="3881480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endParaRPr lang="en-US" dirty="0">
              <a:solidFill>
                <a:srgbClr val="ED8428"/>
              </a:solidFill>
            </a:endParaRPr>
          </a:p>
        </p:txBody>
      </p:sp>
      <p:graphicFrame>
        <p:nvGraphicFramePr>
          <p:cNvPr id="4" name="Chart 3" descr="Chart.">
            <a:extLst>
              <a:ext uri="{FF2B5EF4-FFF2-40B4-BE49-F238E27FC236}">
                <a16:creationId xmlns:a16="http://schemas.microsoft.com/office/drawing/2014/main" id="{7E8709D8-54D0-7376-A0C6-1D601F6B5F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8425236"/>
              </p:ext>
            </p:extLst>
          </p:nvPr>
        </p:nvGraphicFramePr>
        <p:xfrm>
          <a:off x="225033" y="2419614"/>
          <a:ext cx="4046220" cy="33443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41279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97D9F544-C48F-6449-E025-9FECA788BBA8}"/>
              </a:ext>
            </a:extLst>
          </p:cNvPr>
          <p:cNvSpPr txBox="1">
            <a:spLocks/>
          </p:cNvSpPr>
          <p:nvPr/>
        </p:nvSpPr>
        <p:spPr>
          <a:xfrm>
            <a:off x="964838" y="0"/>
            <a:ext cx="10670901" cy="75438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u="sng" dirty="0">
                <a:solidFill>
                  <a:schemeClr val="tx1"/>
                </a:solidFill>
              </a:rPr>
              <a:t>01 Correlation Heatmap of sub-dataset Attributes</a:t>
            </a:r>
            <a:endParaRPr lang="en-US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C1570D-BCE2-B39E-99A7-79BD294A14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00"/>
          <a:stretch>
            <a:fillRect/>
          </a:stretch>
        </p:blipFill>
        <p:spPr>
          <a:xfrm>
            <a:off x="0" y="754380"/>
            <a:ext cx="12192000" cy="610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512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97D9F544-C48F-6449-E025-9FECA788BBA8}"/>
              </a:ext>
            </a:extLst>
          </p:cNvPr>
          <p:cNvSpPr txBox="1">
            <a:spLocks/>
          </p:cNvSpPr>
          <p:nvPr/>
        </p:nvSpPr>
        <p:spPr>
          <a:xfrm>
            <a:off x="760549" y="0"/>
            <a:ext cx="10670901" cy="75438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u="sng" dirty="0">
                <a:solidFill>
                  <a:schemeClr val="tx1"/>
                </a:solidFill>
              </a:rPr>
              <a:t>02 Scatter Plot of Happiness Score vs GDP per Capita</a:t>
            </a:r>
            <a:endParaRPr lang="en-US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B04302-B398-406B-7B5E-C01F1421AF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8" t="13711" b="3402"/>
          <a:stretch>
            <a:fillRect/>
          </a:stretch>
        </p:blipFill>
        <p:spPr>
          <a:xfrm>
            <a:off x="-1" y="754380"/>
            <a:ext cx="12192001" cy="6103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866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97D9F544-C48F-6449-E025-9FECA788BBA8}"/>
              </a:ext>
            </a:extLst>
          </p:cNvPr>
          <p:cNvSpPr txBox="1">
            <a:spLocks/>
          </p:cNvSpPr>
          <p:nvPr/>
        </p:nvSpPr>
        <p:spPr>
          <a:xfrm>
            <a:off x="760549" y="0"/>
            <a:ext cx="10670901" cy="75438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u="sng" dirty="0">
                <a:solidFill>
                  <a:schemeClr val="tx1"/>
                </a:solidFill>
              </a:rPr>
              <a:t>03 Happiness Score by Region</a:t>
            </a:r>
            <a:endParaRPr lang="en-US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BE05A7-0A2A-7DE8-5BE8-2E8F29FA09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39" t="13402" b="7835"/>
          <a:stretch>
            <a:fillRect/>
          </a:stretch>
        </p:blipFill>
        <p:spPr>
          <a:xfrm>
            <a:off x="0" y="754380"/>
            <a:ext cx="12192000" cy="608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856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97D9F544-C48F-6449-E025-9FECA788BBA8}"/>
              </a:ext>
            </a:extLst>
          </p:cNvPr>
          <p:cNvSpPr txBox="1">
            <a:spLocks/>
          </p:cNvSpPr>
          <p:nvPr/>
        </p:nvSpPr>
        <p:spPr>
          <a:xfrm>
            <a:off x="964838" y="0"/>
            <a:ext cx="10670901" cy="75438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u="sng" dirty="0">
                <a:solidFill>
                  <a:schemeClr val="tx1"/>
                </a:solidFill>
              </a:rPr>
              <a:t>04 GDP per Capita and Healthy Life Expectancy by Country</a:t>
            </a:r>
            <a:endParaRPr lang="en-US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F70DF2-468F-D51B-5CAD-4B5711FD4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9" t="10413" b="8761"/>
          <a:stretch>
            <a:fillRect/>
          </a:stretch>
        </p:blipFill>
        <p:spPr>
          <a:xfrm>
            <a:off x="0" y="754380"/>
            <a:ext cx="12192000" cy="610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67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97D9F544-C48F-6449-E025-9FECA788BBA8}"/>
              </a:ext>
            </a:extLst>
          </p:cNvPr>
          <p:cNvSpPr txBox="1">
            <a:spLocks/>
          </p:cNvSpPr>
          <p:nvPr/>
        </p:nvSpPr>
        <p:spPr>
          <a:xfrm>
            <a:off x="403860" y="0"/>
            <a:ext cx="11384279" cy="75438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u="sng" dirty="0">
                <a:solidFill>
                  <a:schemeClr val="tx1"/>
                </a:solidFill>
              </a:rPr>
              <a:t>05 GDP per Capita and Healthy Life Expectancy of Top 10 Countries</a:t>
            </a:r>
            <a:endParaRPr lang="en-US" b="1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617694-46FB-9FF6-8E03-4E5D2F74E9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57"/>
          <a:stretch>
            <a:fillRect/>
          </a:stretch>
        </p:blipFill>
        <p:spPr>
          <a:xfrm>
            <a:off x="0" y="754380"/>
            <a:ext cx="12192000" cy="610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574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97D9F544-C48F-6449-E025-9FECA788BBA8}"/>
              </a:ext>
            </a:extLst>
          </p:cNvPr>
          <p:cNvSpPr txBox="1">
            <a:spLocks/>
          </p:cNvSpPr>
          <p:nvPr/>
        </p:nvSpPr>
        <p:spPr>
          <a:xfrm>
            <a:off x="913795" y="0"/>
            <a:ext cx="10353762" cy="5715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b="1" u="sng" dirty="0">
                <a:solidFill>
                  <a:schemeClr val="tx1"/>
                </a:solidFill>
              </a:rPr>
              <a:t>DASHBOARD</a:t>
            </a:r>
            <a:endParaRPr lang="en-US" b="1" u="sng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D86D52-1CF4-951E-B76C-77A30A6AA1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1500"/>
            <a:ext cx="12192000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913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F44B2DA-379E-3058-2185-2986B2289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2020" y="1440180"/>
            <a:ext cx="6858000" cy="489204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</a:rPr>
              <a:t>Multi-tab dashboard created using </a:t>
            </a:r>
            <a:r>
              <a:rPr lang="en-US" sz="3600" b="1" dirty="0" err="1">
                <a:solidFill>
                  <a:schemeClr val="tx1"/>
                </a:solidFill>
              </a:rPr>
              <a:t>Plotly</a:t>
            </a:r>
            <a:endParaRPr lang="en-US" sz="3600" b="1" dirty="0">
              <a:solidFill>
                <a:schemeClr val="tx1"/>
              </a:solidFill>
            </a:endParaRPr>
          </a:p>
          <a:p>
            <a:r>
              <a:rPr lang="en-US" sz="3600" b="1" dirty="0">
                <a:solidFill>
                  <a:schemeClr val="tx1"/>
                </a:solidFill>
              </a:rPr>
              <a:t>Includes top contributors, trends, and geo visualizations</a:t>
            </a:r>
          </a:p>
          <a:p>
            <a:r>
              <a:rPr lang="en-US" sz="3600" b="1" dirty="0">
                <a:solidFill>
                  <a:schemeClr val="tx1"/>
                </a:solidFill>
              </a:rPr>
              <a:t>Interactive tooltips for deeper engagement</a:t>
            </a:r>
          </a:p>
          <a:p>
            <a:r>
              <a:rPr lang="en-US" sz="3600" b="1" dirty="0">
                <a:solidFill>
                  <a:schemeClr val="tx1"/>
                </a:solidFill>
              </a:rPr>
              <a:t>Helps policy-makers, educators, and global analysts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97D9F544-C48F-6449-E025-9FECA788BBA8}"/>
              </a:ext>
            </a:extLst>
          </p:cNvPr>
          <p:cNvSpPr txBox="1">
            <a:spLocks/>
          </p:cNvSpPr>
          <p:nvPr/>
        </p:nvSpPr>
        <p:spPr>
          <a:xfrm>
            <a:off x="913795" y="-171450"/>
            <a:ext cx="10353762" cy="143332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u="sng" dirty="0">
                <a:solidFill>
                  <a:schemeClr val="tx1"/>
                </a:solidFill>
              </a:rPr>
              <a:t>Dashboard Insights Summary</a:t>
            </a:r>
          </a:p>
        </p:txBody>
      </p:sp>
      <p:pic>
        <p:nvPicPr>
          <p:cNvPr id="2" name="Content Placeholder 2">
            <a:extLst>
              <a:ext uri="{FF2B5EF4-FFF2-40B4-BE49-F238E27FC236}">
                <a16:creationId xmlns:a16="http://schemas.microsoft.com/office/drawing/2014/main" id="{9CA271D8-1D19-94A8-F8C6-4EF0339C530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80682" y="1440180"/>
            <a:ext cx="4351338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54993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F44B2DA-379E-3058-2185-2986B2289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2020" y="1261872"/>
            <a:ext cx="6858000" cy="5070348"/>
          </a:xfrm>
        </p:spPr>
        <p:txBody>
          <a:bodyPr>
            <a:normAutofit fontScale="92500" lnSpcReduction="10000"/>
          </a:bodyPr>
          <a:lstStyle/>
          <a:p>
            <a:r>
              <a:rPr lang="en-US" sz="4000" b="1" dirty="0">
                <a:solidFill>
                  <a:schemeClr val="tx1"/>
                </a:solidFill>
              </a:rPr>
              <a:t>AI-driven tools can fully execute data analysis workflows</a:t>
            </a:r>
          </a:p>
          <a:p>
            <a:r>
              <a:rPr lang="en-US" sz="4000" b="1" dirty="0">
                <a:solidFill>
                  <a:schemeClr val="tx1"/>
                </a:solidFill>
              </a:rPr>
              <a:t>Happiness is clearly driven by economy, health, and social factors</a:t>
            </a:r>
          </a:p>
          <a:p>
            <a:r>
              <a:rPr lang="en-US" sz="4000" b="1" dirty="0">
                <a:solidFill>
                  <a:schemeClr val="tx1"/>
                </a:solidFill>
              </a:rPr>
              <a:t>Generative AI boosts productivity and insight discovery</a:t>
            </a:r>
          </a:p>
          <a:p>
            <a:r>
              <a:rPr lang="en-US" sz="4000" b="1" dirty="0">
                <a:solidFill>
                  <a:schemeClr val="tx1"/>
                </a:solidFill>
              </a:rPr>
              <a:t>This framework is scalable for future analytical studies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97D9F544-C48F-6449-E025-9FECA788BBA8}"/>
              </a:ext>
            </a:extLst>
          </p:cNvPr>
          <p:cNvSpPr txBox="1">
            <a:spLocks/>
          </p:cNvSpPr>
          <p:nvPr/>
        </p:nvSpPr>
        <p:spPr>
          <a:xfrm>
            <a:off x="913795" y="0"/>
            <a:ext cx="10353762" cy="126187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u="sng" dirty="0">
                <a:solidFill>
                  <a:schemeClr val="tx1"/>
                </a:solidFill>
              </a:rPr>
              <a:t>CONCLUSION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14466FD-D44E-D92D-7319-AAE9E0E21B3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13795" y="1901819"/>
            <a:ext cx="3054361" cy="30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348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F44B2DA-379E-3058-2185-2986B2289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2020" y="1851644"/>
            <a:ext cx="6858000" cy="4480575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</a:rPr>
              <a:t>Useful for public policy, education planning, and economic development.</a:t>
            </a:r>
          </a:p>
          <a:p>
            <a:r>
              <a:rPr lang="en-US" sz="4000" b="1" dirty="0">
                <a:solidFill>
                  <a:schemeClr val="tx1"/>
                </a:solidFill>
              </a:rPr>
              <a:t> Demonstrates the power of generative AI in real-world data analysis workflows.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97D9F544-C48F-6449-E025-9FECA788BBA8}"/>
              </a:ext>
            </a:extLst>
          </p:cNvPr>
          <p:cNvSpPr txBox="1">
            <a:spLocks/>
          </p:cNvSpPr>
          <p:nvPr/>
        </p:nvSpPr>
        <p:spPr>
          <a:xfrm>
            <a:off x="913795" y="0"/>
            <a:ext cx="10353762" cy="126187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u="sng" dirty="0">
                <a:solidFill>
                  <a:schemeClr val="tx1"/>
                </a:solidFill>
              </a:rPr>
              <a:t>Real-World Applications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7980CB-2355-AE2A-8FEF-27D5C2B87F26}"/>
              </a:ext>
            </a:extLst>
          </p:cNvPr>
          <p:cNvSpPr txBox="1"/>
          <p:nvPr/>
        </p:nvSpPr>
        <p:spPr>
          <a:xfrm>
            <a:off x="720037" y="1851645"/>
            <a:ext cx="4205742" cy="3154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9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💼</a:t>
            </a:r>
            <a:endParaRPr lang="en-US" sz="19900" dirty="0"/>
          </a:p>
        </p:txBody>
      </p:sp>
    </p:spTree>
    <p:extLst>
      <p:ext uri="{BB962C8B-B14F-4D97-AF65-F5344CB8AC3E}">
        <p14:creationId xmlns:p14="http://schemas.microsoft.com/office/powerpoint/2010/main" val="3870477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📬 </a:t>
            </a:r>
            <a:r>
              <a:rPr b="1" dirty="0"/>
              <a:t>Let’s Connect</a:t>
            </a:r>
            <a:r>
              <a:rPr dirty="0"/>
              <a:t>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📧 </a:t>
            </a:r>
            <a:r>
              <a:rPr lang="en-US" b="1" dirty="0"/>
              <a:t>H</a:t>
            </a:r>
            <a:r>
              <a:rPr b="1" dirty="0"/>
              <a:t>aidar@</a:t>
            </a:r>
            <a:r>
              <a:rPr lang="en-US" b="1" dirty="0"/>
              <a:t>Dagham</a:t>
            </a:r>
            <a:r>
              <a:rPr b="1" dirty="0"/>
              <a:t>.com</a:t>
            </a:r>
          </a:p>
          <a:p>
            <a:r>
              <a:rPr b="1" dirty="0"/>
              <a:t>💼 Open to roles in Data Analysis, Python, or AI-related fields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2A21665-C64F-4BDA-B2DE-442D70605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325258" y="1544068"/>
            <a:ext cx="3541486" cy="3769865"/>
            <a:chOff x="4325258" y="1229517"/>
            <a:chExt cx="3541486" cy="3769865"/>
          </a:xfrm>
        </p:grpSpPr>
        <p:sp>
          <p:nvSpPr>
            <p:cNvPr id="12" name="Diamond 11">
              <a:extLst>
                <a:ext uri="{FF2B5EF4-FFF2-40B4-BE49-F238E27FC236}">
                  <a16:creationId xmlns:a16="http://schemas.microsoft.com/office/drawing/2014/main" id="{7DC8B409-5FAC-4539-B25A-26BE925A48AF}"/>
                </a:ext>
              </a:extLst>
            </p:cNvPr>
            <p:cNvSpPr/>
            <p:nvPr/>
          </p:nvSpPr>
          <p:spPr>
            <a:xfrm>
              <a:off x="4792319" y="2392018"/>
              <a:ext cx="2607364" cy="2607364"/>
            </a:xfrm>
            <a:prstGeom prst="diamond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Diamond 12">
              <a:extLst>
                <a:ext uri="{FF2B5EF4-FFF2-40B4-BE49-F238E27FC236}">
                  <a16:creationId xmlns:a16="http://schemas.microsoft.com/office/drawing/2014/main" id="{91498E2F-539C-46D3-AF7C-BB1DAE76B114}"/>
                </a:ext>
              </a:extLst>
            </p:cNvPr>
            <p:cNvSpPr/>
            <p:nvPr/>
          </p:nvSpPr>
          <p:spPr>
            <a:xfrm>
              <a:off x="4325258" y="1229517"/>
              <a:ext cx="3541486" cy="3541486"/>
            </a:xfrm>
            <a:prstGeom prst="diamond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0403"/>
            <a:ext cx="9144000" cy="997196"/>
          </a:xfrm>
        </p:spPr>
        <p:txBody>
          <a:bodyPr lIns="0" tIns="0" rIns="0" bIns="0" anchor="ctr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Thank You</a:t>
            </a:r>
            <a:endParaRPr lang="en-US" sz="72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038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455520_Project analysis, from 24Slides_SL_V1.potx" id="{55E7247F-78B2-40DB-9AFE-D4DD42FA8F09}" vid="{22E2FD65-A32D-4798-AF43-CE42F250BD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FD05317-60D6-4B3A-8545-888496D1A8E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A00BBF-EEBB-4E18-B8CB-F926EAAC48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609EDA-869E-4BE5-AE5D-B898C584B6F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Project analysis, from 24Slides</Template>
  <TotalTime>64</TotalTime>
  <Words>426</Words>
  <Application>Microsoft Office PowerPoint</Application>
  <PresentationFormat>Widescreen</PresentationFormat>
  <Paragraphs>73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Century Gothic</vt:lpstr>
      <vt:lpstr>Segoe UI Emoji</vt:lpstr>
      <vt:lpstr>Segoe UI Light</vt:lpstr>
      <vt:lpstr>Times New Roman</vt:lpstr>
      <vt:lpstr>Office Theme</vt:lpstr>
      <vt:lpstr>World Happiness Decoded by AI An AI-Driven Data Analysis Project by Haidar Dagham </vt:lpstr>
      <vt:lpstr>PowerPoint Presentation</vt:lpstr>
      <vt:lpstr>PowerPoint Presentation</vt:lpstr>
      <vt:lpstr>PowerPoint Presentation</vt:lpstr>
      <vt:lpstr>PowerPoint Presentation</vt:lpstr>
      <vt:lpstr>Tools &amp; Technologies Used</vt:lpstr>
      <vt:lpstr>Visualizations Created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📬 Let’s Connect!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Haidar Dagham</dc:creator>
  <cp:lastModifiedBy>Haidar Dagham</cp:lastModifiedBy>
  <cp:revision>13</cp:revision>
  <dcterms:created xsi:type="dcterms:W3CDTF">2025-05-20T09:17:59Z</dcterms:created>
  <dcterms:modified xsi:type="dcterms:W3CDTF">2025-05-28T12:41:30Z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